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2" r:id="rId11"/>
    <p:sldId id="273" r:id="rId12"/>
    <p:sldId id="274" r:id="rId13"/>
    <p:sldId id="262" r:id="rId14"/>
    <p:sldId id="270" r:id="rId15"/>
    <p:sldId id="260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168" autoAdjust="0"/>
    <p:restoredTop sz="95441" autoAdjust="0"/>
  </p:normalViewPr>
  <p:slideViewPr>
    <p:cSldViewPr snapToGrid="0">
      <p:cViewPr varScale="1">
        <p:scale>
          <a:sx n="86" d="100"/>
          <a:sy n="86" d="100"/>
        </p:scale>
        <p:origin x="10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WIT_AVIMA_2018\Stastistics\Project_stats\Project%20for%20delay%20causes\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WIT_AVIMA_2018\Stastistics\Project_stats\Project%20for%20delay%20causes\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Seasonal</a:t>
            </a:r>
            <a:r>
              <a:rPr lang="en-GB" baseline="0"/>
              <a:t> average variation in % weather delay for Denver (2004-2018)</a:t>
            </a:r>
            <a:endParaRPr lang="en-GB"/>
          </a:p>
        </c:rich>
      </c:tx>
      <c:layout>
        <c:manualLayout>
          <c:xMode val="edge"/>
          <c:yMode val="edge"/>
          <c:x val="0.11436766311405906"/>
          <c:y val="1.9900497512437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'Denver international'!$J$2:$J$13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'Denver international'!$L$2:$L$13</c:f>
              <c:numCache>
                <c:formatCode>General</c:formatCode>
                <c:ptCount val="12"/>
                <c:pt idx="0">
                  <c:v>0.72334718052147684</c:v>
                </c:pt>
                <c:pt idx="1">
                  <c:v>0.65899531026044256</c:v>
                </c:pt>
                <c:pt idx="2">
                  <c:v>0.50003945556953411</c:v>
                </c:pt>
                <c:pt idx="3">
                  <c:v>0.41662034635963335</c:v>
                </c:pt>
                <c:pt idx="4">
                  <c:v>0.54943022216734982</c:v>
                </c:pt>
                <c:pt idx="5">
                  <c:v>0.6979237906438519</c:v>
                </c:pt>
                <c:pt idx="6">
                  <c:v>0.71616994154986879</c:v>
                </c:pt>
                <c:pt idx="7">
                  <c:v>0.58269755946621227</c:v>
                </c:pt>
                <c:pt idx="8">
                  <c:v>0.32869527671606968</c:v>
                </c:pt>
                <c:pt idx="9">
                  <c:v>0.28496283578686099</c:v>
                </c:pt>
                <c:pt idx="10">
                  <c:v>0.33098374413914289</c:v>
                </c:pt>
                <c:pt idx="11">
                  <c:v>0.78685074061088101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29-4D71-B934-285BED7039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739200"/>
        <c:axId val="184744192"/>
      </c:barChart>
      <c:catAx>
        <c:axId val="18473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744192"/>
        <c:crosses val="autoZero"/>
        <c:auto val="1"/>
        <c:lblAlgn val="ctr"/>
        <c:lblOffset val="100"/>
        <c:noMultiLvlLbl val="0"/>
      </c:catAx>
      <c:valAx>
        <c:axId val="184744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739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Seasonal average</a:t>
            </a:r>
            <a:r>
              <a:rPr lang="en-GB" baseline="0"/>
              <a:t> variation in % delayed flights for Denver (2004-2018)</a:t>
            </a:r>
            <a:endParaRPr lang="en-GB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'Denver international'!$J$2:$J$13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'Denver international'!$K$2:$K$13</c:f>
              <c:numCache>
                <c:formatCode>General</c:formatCode>
                <c:ptCount val="12"/>
                <c:pt idx="0">
                  <c:v>19.884214585185724</c:v>
                </c:pt>
                <c:pt idx="1">
                  <c:v>18.990202007027669</c:v>
                </c:pt>
                <c:pt idx="2">
                  <c:v>17.119632800426995</c:v>
                </c:pt>
                <c:pt idx="3">
                  <c:v>15.581134793894021</c:v>
                </c:pt>
                <c:pt idx="4">
                  <c:v>17.420938656601628</c:v>
                </c:pt>
                <c:pt idx="5">
                  <c:v>21.825378105714165</c:v>
                </c:pt>
                <c:pt idx="6">
                  <c:v>20.695217090862293</c:v>
                </c:pt>
                <c:pt idx="7">
                  <c:v>17.853183442933489</c:v>
                </c:pt>
                <c:pt idx="8">
                  <c:v>12.455942260994853</c:v>
                </c:pt>
                <c:pt idx="9">
                  <c:v>14.42942916700191</c:v>
                </c:pt>
                <c:pt idx="10">
                  <c:v>13.300659973886573</c:v>
                </c:pt>
                <c:pt idx="11">
                  <c:v>24.876589136229761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51-4A0C-AF2D-879A48FCD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9272656"/>
        <c:axId val="1989284720"/>
      </c:barChart>
      <c:catAx>
        <c:axId val="1989272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9284720"/>
        <c:crosses val="autoZero"/>
        <c:auto val="1"/>
        <c:lblAlgn val="ctr"/>
        <c:lblOffset val="100"/>
        <c:noMultiLvlLbl val="0"/>
      </c:catAx>
      <c:valAx>
        <c:axId val="1989284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9272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54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27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267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27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0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20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3557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269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6391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8220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438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6ABBD-7476-4426-BD16-C2F1260A83F5}" type="datetimeFigureOut">
              <a:rPr lang="de-DE" smtClean="0"/>
              <a:t>07.02.2019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847B0-DCAA-4899-AC5E-E39D27DFD5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622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" TargetMode="External"/><Relationship Id="rId2" Type="http://schemas.openxmlformats.org/officeDocument/2006/relationships/hyperlink" Target="https://www.nytimes.com/2012/01/28/business/ny-airports-account-for-half-of-all-delay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elp.smartsheet.com/" TargetMode="External"/><Relationship Id="rId4" Type="http://schemas.openxmlformats.org/officeDocument/2006/relationships/hyperlink" Target="https://www.transtats.bts.gov/OT_Delay/OT_DelayCause1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1274"/>
            <a:ext cx="12192000" cy="1171675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</a:t>
            </a:r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On-Time Statistics </a:t>
            </a:r>
            <a:r>
              <a:rPr lang="en-GB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Delay Causes</a:t>
            </a:r>
            <a:endParaRPr lang="en-US" sz="2800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10879" y="6345311"/>
            <a:ext cx="398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By Team Lavanya, Van, Jim and Bolaji.</a:t>
            </a:r>
            <a:endParaRPr lang="en-GB" sz="16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9649" cy="990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0"/>
            <a:ext cx="1295400" cy="8763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83832" y="5492367"/>
            <a:ext cx="4499810" cy="11914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AVIMA - Statistics </a:t>
            </a:r>
          </a:p>
          <a:p>
            <a:pPr algn="ctr"/>
            <a:r>
              <a:rPr lang="en-GB" sz="20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Prof.</a:t>
            </a:r>
            <a:r>
              <a:rPr lang="en-GB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</a:t>
            </a:r>
            <a:r>
              <a:rPr lang="en-GB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Rainer </a:t>
            </a:r>
            <a:r>
              <a:rPr lang="en-GB" sz="20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Stollhoff</a:t>
            </a:r>
            <a:r>
              <a:rPr lang="en-GB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ctr"/>
            <a:r>
              <a:rPr lang="en-GB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 February 2019</a:t>
            </a:r>
          </a:p>
          <a:p>
            <a:pPr algn="ctr"/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56" y="1481023"/>
            <a:ext cx="3141064" cy="34412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30902" t="2807" r="5348"/>
          <a:stretch/>
        </p:blipFill>
        <p:spPr>
          <a:xfrm>
            <a:off x="223024" y="1477060"/>
            <a:ext cx="3412273" cy="347487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0879" y="1477060"/>
            <a:ext cx="3177237" cy="344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8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1274"/>
            <a:ext cx="12192000" cy="1171675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Pitch for Airline </a:t>
            </a:r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On-Time Statistics </a:t>
            </a:r>
            <a:r>
              <a:rPr lang="en-GB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Delay Causes</a:t>
            </a:r>
            <a:endParaRPr lang="en-US" sz="2800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9649" cy="990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0"/>
            <a:ext cx="1295400" cy="8763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409074" y="1248109"/>
            <a:ext cx="11273589" cy="523691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D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sp>
        <p:nvSpPr>
          <p:cNvPr id="6" name="TextBox 5"/>
          <p:cNvSpPr txBox="1"/>
          <p:nvPr/>
        </p:nvSpPr>
        <p:spPr>
          <a:xfrm>
            <a:off x="691376" y="1360449"/>
            <a:ext cx="1079438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 of </a:t>
            </a:r>
            <a:r>
              <a:rPr lang="en-GB" sz="32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Contents</a:t>
            </a:r>
          </a:p>
          <a:p>
            <a:endParaRPr lang="en-GB" sz="3200" b="1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de-DE" sz="24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de-DE" sz="24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source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de-DE" sz="24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de-DE" sz="24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Explanation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de-DE" sz="2400" b="1" i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plan </a:t>
            </a:r>
            <a:endParaRPr lang="de-DE" sz="2400" b="1" i="1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de-DE" sz="24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Sources</a:t>
            </a:r>
            <a:endParaRPr lang="en-GB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09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96683"/>
            <a:ext cx="10515600" cy="910222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09074" y="1248109"/>
            <a:ext cx="11273589" cy="5236912"/>
          </a:xfrm>
        </p:spPr>
        <p:txBody>
          <a:bodyPr>
            <a:normAutofit fontScale="92500" lnSpcReduction="20000"/>
          </a:bodyPr>
          <a:lstStyle/>
          <a:p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and  </a:t>
            </a:r>
            <a:r>
              <a:rPr lang="de-DE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source</a:t>
            </a:r>
            <a:endParaRPr lang="de-DE" b="1" i="1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GB" b="1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Aviation is being the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most dynamic business sectors in the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world,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Flight delays affect passenger travel satisfaction and increase in airline costs. From 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United States Department of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Transportation aviation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we have analysed the causes of delay in three airports from 2004 to 2018 using descriptive analysis.</a:t>
            </a:r>
          </a:p>
          <a:p>
            <a:pPr marL="457200" lvl="1" indent="0">
              <a:buNone/>
            </a:pPr>
            <a:endParaRPr lang="en-GB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factors affecting on-time performance of airlines are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Weather, National 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Aviation System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issues (NAS), Security issues, Carrier issues, 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Aircraft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Arrival etc…</a:t>
            </a:r>
          </a:p>
          <a:p>
            <a:pPr marL="457200" lvl="1" indent="0">
              <a:buNone/>
            </a:pPr>
            <a:endParaRPr lang="en-GB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Apart from our individual interests, we share a dream of being in aviation field from </a:t>
            </a:r>
          </a:p>
          <a:p>
            <a:pPr marL="457200" lvl="1" indent="0">
              <a:buNone/>
            </a:pP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our childhood, how the airliners and the airport is working along to attain the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on-time performance and causes for delays. </a:t>
            </a:r>
            <a:endParaRPr lang="de-DE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GB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de-DE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the Business Intellegence </a:t>
            </a: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an </a:t>
            </a:r>
            <a:r>
              <a:rPr lang="de-DE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airliner, On-time </a:t>
            </a:r>
            <a:r>
              <a:rPr lang="de-DE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 and delay causes directly impact on c</a:t>
            </a:r>
            <a:r>
              <a:rPr lang="en-GB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ost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components and cost factors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such 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Fuel, Maintenance, Crew, Aircraft depreciation, rental, lease, Airport charges, Ground and Passenger handling, Aircraft Operator passenger cost and many </a:t>
            </a: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others.</a:t>
            </a:r>
          </a:p>
          <a:p>
            <a:pPr marL="457200" lvl="1" indent="0">
              <a:buNone/>
            </a:pPr>
            <a:endParaRPr lang="de-D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97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lvl="1"/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  <a:r>
              <a:rPr lang="de-DE" b="1" i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Miami international airport - VAN</a:t>
            </a:r>
            <a:endParaRPr lang="de-DE" b="1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643" y="3101640"/>
            <a:ext cx="5423671" cy="3419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11" y="3101640"/>
            <a:ext cx="5629275" cy="34194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51884"/>
            <a:ext cx="21526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7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lvl="1"/>
            <a:endParaRPr lang="de-DE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de-DE" b="1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54" y="1367215"/>
            <a:ext cx="9305083" cy="136483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361" y="2921621"/>
            <a:ext cx="7939668" cy="381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0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059366"/>
            <a:ext cx="10968789" cy="5461750"/>
          </a:xfrm>
        </p:spPr>
        <p:txBody>
          <a:bodyPr>
            <a:normAutofit/>
          </a:bodyPr>
          <a:lstStyle/>
          <a:p>
            <a:pPr lvl="1"/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 </a:t>
            </a:r>
            <a:r>
              <a:rPr lang="de-DE" b="1" i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Boston Logan International </a:t>
            </a:r>
            <a:r>
              <a:rPr lang="de-DE" b="1" i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airport - </a:t>
            </a:r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JIM</a:t>
            </a:r>
            <a:endParaRPr lang="de-DE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2640075"/>
            <a:ext cx="5547561" cy="34785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6307"/>
          <a:stretch/>
        </p:blipFill>
        <p:spPr>
          <a:xfrm>
            <a:off x="6370428" y="2640075"/>
            <a:ext cx="5402472" cy="34785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20" y="1565785"/>
            <a:ext cx="1581614" cy="79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3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lvl="1"/>
            <a:endParaRPr lang="de-DE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de-DE" b="1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650" y="3033132"/>
            <a:ext cx="8379970" cy="34879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77" y="1106904"/>
            <a:ext cx="9439630" cy="158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9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lvl="1"/>
            <a:r>
              <a:rPr lang="de-DE" b="1" i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 from </a:t>
            </a:r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Denver International </a:t>
            </a:r>
            <a:r>
              <a:rPr lang="de-DE" b="1" i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airport - </a:t>
            </a:r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Lavanya</a:t>
            </a:r>
            <a:endParaRPr lang="de-DE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4738930"/>
              </p:ext>
            </p:extLst>
          </p:nvPr>
        </p:nvGraphicFramePr>
        <p:xfrm>
          <a:off x="6282202" y="2692065"/>
          <a:ext cx="5586413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337603"/>
              </p:ext>
            </p:extLst>
          </p:nvPr>
        </p:nvGraphicFramePr>
        <p:xfrm>
          <a:off x="385011" y="2605073"/>
          <a:ext cx="5558589" cy="4043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20" y="1727276"/>
            <a:ext cx="1581614" cy="79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7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lvl="1"/>
            <a:endParaRPr lang="de-DE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de-DE" b="1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263" y="2939555"/>
            <a:ext cx="8697952" cy="380021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88" y="1185908"/>
            <a:ext cx="9292956" cy="153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9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GB" b="1" i="1" dirty="0" smtClean="0">
              <a:solidFill>
                <a:srgbClr val="002060"/>
              </a:solidFill>
            </a:endParaRPr>
          </a:p>
          <a:p>
            <a:pPr lvl="1"/>
            <a:endParaRPr lang="de-DE" b="1" i="1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de-DE" b="1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8200" y="1639229"/>
            <a:ext cx="1021265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Observations:</a:t>
            </a:r>
          </a:p>
          <a:p>
            <a:endParaRPr lang="de-DE" sz="36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results percentage of delay from weather of all the three airports are lower than 3%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 – Is the weather delay category includes all the weather related causes?</a:t>
            </a:r>
          </a:p>
          <a:p>
            <a:endParaRPr lang="de-DE" sz="2400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14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GB" b="1" i="1" dirty="0" smtClean="0">
              <a:solidFill>
                <a:srgbClr val="002060"/>
              </a:solidFill>
            </a:endParaRPr>
          </a:p>
          <a:p>
            <a:pPr lvl="1"/>
            <a:endParaRPr lang="de-DE" b="1" i="1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de-DE" b="1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8200" y="1204331"/>
            <a:ext cx="10212659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000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Categories </a:t>
            </a:r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 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Carrier: The cause of the cancellation or delay was due to circumstances within the airline's control (e.g. maintenance or crew problems, aircraft cleaning, baggage loading, </a:t>
            </a:r>
            <a:r>
              <a:rPr lang="en-GB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fueling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etc.).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Significant weather conditions that, delays or prevents the operation of a flight such as tornado, blizzard or hurricane.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National 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Aviation System (NAS): Delays and cancellations refer to a broad set of conditions, such as non-extreme weather conditions, airport operations, heavy traffic volume, and air traffic control.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Late-arriving 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aircraft: A previous flight with same aircraft arrived late, causing the present flight to depart late.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Security</a:t>
            </a:r>
            <a:r>
              <a:rPr lang="en-GB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Delays or cancellations caused by evacuation, re-boarding, inoperative screening equipment…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400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46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GB" b="1" i="1" dirty="0" smtClean="0">
              <a:solidFill>
                <a:srgbClr val="002060"/>
              </a:solidFill>
            </a:endParaRPr>
          </a:p>
          <a:p>
            <a:pPr lvl="1"/>
            <a:endParaRPr lang="de-DE" b="1" i="1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de-DE" b="1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8200" y="1204331"/>
            <a:ext cx="1021265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Answer:</a:t>
            </a:r>
          </a:p>
          <a:p>
            <a:endParaRPr lang="de-DE" sz="2800" b="1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weather category consists of extreme weather that prevents flying.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There is another category of weather within the NAS category, which slows the operations of the system but does not prevent flying.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Another attribution come from the weather-related delays included in the "late-arriving aircraft" category. Airlines do not report the causes of the late-arriving aircraft but it also possible that the flight arrive late because of the bad weather with in the route.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400" dirty="0" smtClean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7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GB" b="1" i="1" dirty="0" smtClean="0">
              <a:solidFill>
                <a:srgbClr val="002060"/>
              </a:solidFill>
            </a:endParaRPr>
          </a:p>
          <a:p>
            <a:pPr lvl="1"/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plan (Smart sheet):</a:t>
            </a:r>
          </a:p>
          <a:p>
            <a:pPr lvl="1"/>
            <a:endParaRPr lang="de-DE" b="1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5" y="2201779"/>
            <a:ext cx="10287000" cy="422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011" y="1325562"/>
            <a:ext cx="10968789" cy="519555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DE" b="1" i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i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86308"/>
            <a:ext cx="10773937" cy="511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3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84652"/>
            <a:ext cx="10515600" cy="729749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Airline On-Time Statistics and Delay Causes</a:t>
            </a:r>
            <a:endParaRPr lang="en-US" sz="2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i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Sources:</a:t>
            </a:r>
          </a:p>
          <a:p>
            <a:r>
              <a:rPr lang="en-US" i="1" dirty="0">
                <a:solidFill>
                  <a:srgbClr val="379F3C"/>
                </a:solidFill>
                <a:hlinkClick r:id="rId2"/>
              </a:rPr>
              <a:t>https://</a:t>
            </a:r>
            <a:r>
              <a:rPr lang="en-US" i="1" u="sng" dirty="0" smtClean="0">
                <a:solidFill>
                  <a:srgbClr val="379F3C"/>
                </a:solidFill>
                <a:hlinkClick r:id="rId2"/>
              </a:rPr>
              <a:t>www.nytimes.com/2012/01/28/business/ny-airports-account-for-half-of-all-delays.html</a:t>
            </a:r>
            <a:endParaRPr lang="en-US" i="1" u="sng" dirty="0" smtClean="0">
              <a:solidFill>
                <a:srgbClr val="379F3C"/>
              </a:solidFill>
            </a:endParaRPr>
          </a:p>
          <a:p>
            <a:r>
              <a:rPr lang="en-US" i="1" dirty="0">
                <a:solidFill>
                  <a:srgbClr val="379F3C"/>
                </a:solidFill>
                <a:hlinkClick r:id="rId3"/>
              </a:rPr>
              <a:t>https://</a:t>
            </a:r>
            <a:r>
              <a:rPr lang="en-US" i="1" dirty="0" smtClean="0">
                <a:solidFill>
                  <a:srgbClr val="379F3C"/>
                </a:solidFill>
                <a:hlinkClick r:id="rId3"/>
              </a:rPr>
              <a:t>www.researchgate.net/publication</a:t>
            </a:r>
            <a:endParaRPr lang="en-US" i="1" dirty="0" smtClean="0">
              <a:solidFill>
                <a:srgbClr val="379F3C"/>
              </a:solidFill>
            </a:endParaRPr>
          </a:p>
          <a:p>
            <a:r>
              <a:rPr lang="en-US" i="1" dirty="0">
                <a:solidFill>
                  <a:srgbClr val="379F3C"/>
                </a:solidFill>
                <a:hlinkClick r:id="rId4"/>
              </a:rPr>
              <a:t>https://</a:t>
            </a:r>
            <a:r>
              <a:rPr lang="en-US" i="1" dirty="0" smtClean="0">
                <a:solidFill>
                  <a:srgbClr val="379F3C"/>
                </a:solidFill>
                <a:hlinkClick r:id="rId4"/>
              </a:rPr>
              <a:t>www.transtats.bts.gov/OT_Delay/OT_DelayCause1.asp</a:t>
            </a:r>
            <a:endParaRPr lang="en-US" i="1" dirty="0" smtClean="0">
              <a:solidFill>
                <a:srgbClr val="379F3C"/>
              </a:solidFill>
            </a:endParaRPr>
          </a:p>
          <a:p>
            <a:r>
              <a:rPr lang="en-US" i="1" dirty="0">
                <a:solidFill>
                  <a:srgbClr val="379F3C"/>
                </a:solidFill>
                <a:hlinkClick r:id="rId5"/>
              </a:rPr>
              <a:t>https://</a:t>
            </a:r>
            <a:r>
              <a:rPr lang="en-US" i="1" dirty="0" smtClean="0">
                <a:solidFill>
                  <a:srgbClr val="379F3C"/>
                </a:solidFill>
                <a:hlinkClick r:id="rId5"/>
              </a:rPr>
              <a:t>help.smartsheet.com</a:t>
            </a:r>
            <a:endParaRPr lang="en-US" i="1" dirty="0" smtClean="0">
              <a:solidFill>
                <a:srgbClr val="379F3C"/>
              </a:solidFill>
            </a:endParaRPr>
          </a:p>
          <a:p>
            <a:r>
              <a:rPr lang="en-US" i="1" u="sng" dirty="0">
                <a:solidFill>
                  <a:srgbClr val="379F3C"/>
                </a:solidFill>
              </a:rPr>
              <a:t>https://www.transtats.bts.gov/OT_Delay/OT_DelayCause1.asp?pn=1</a:t>
            </a:r>
          </a:p>
          <a:p>
            <a:r>
              <a:rPr lang="en-US" i="1" u="sng" dirty="0">
                <a:solidFill>
                  <a:srgbClr val="379F3C"/>
                </a:solidFill>
              </a:rPr>
              <a:t>https://www.bts.gov/topics/airlines-and-airports/understanding-reporting-causes-flight-delays-and-cancellations</a:t>
            </a:r>
          </a:p>
          <a:p>
            <a:endParaRPr lang="en-US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94874"/>
            <a:ext cx="12192000" cy="1203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09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449</TotalTime>
  <Words>453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Tahoma</vt:lpstr>
      <vt:lpstr>Wingdings</vt:lpstr>
      <vt:lpstr>Office</vt:lpstr>
      <vt:lpstr>Airline On-Time Statistics and Delay Causes</vt:lpstr>
      <vt:lpstr>Project Pitch for Airline On-Time Statistics 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  <vt:lpstr>Airline On-Time Statistics and Delay Causes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Project Pitch: NAME</dc:title>
  <dc:creator>Rainer Stollhoff</dc:creator>
  <cp:lastModifiedBy>Lavanya Muniyappa</cp:lastModifiedBy>
  <cp:revision>118</cp:revision>
  <dcterms:created xsi:type="dcterms:W3CDTF">2019-01-22T11:57:17Z</dcterms:created>
  <dcterms:modified xsi:type="dcterms:W3CDTF">2019-02-07T18:16:20Z</dcterms:modified>
</cp:coreProperties>
</file>